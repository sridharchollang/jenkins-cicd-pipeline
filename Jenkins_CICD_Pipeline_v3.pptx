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0"/>
            <a:ext cx="64008" cy="68580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33A2F"/>
                </a:solidFill>
              </a:rPr>
              <a:t>with Jenkins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GitHub  .  Maven  .  SonarQube  .  Docker  . 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AB0"/>
                </a:solidFill>
              </a:rPr>
              <a:t>End-to-End Automation — from Code Commit to Production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14800"/>
            <a:ext cx="1572768" cy="36576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114800"/>
            <a:ext cx="1572768" cy="36576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4114800"/>
            <a:ext cx="1572768" cy="36576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114800"/>
            <a:ext cx="1572768" cy="36576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4114800"/>
            <a:ext cx="1572768" cy="3657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32588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214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0DA"/>
                </a:solidFill>
              </a:rPr>
              <a:t>Automation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43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0"/>
                </a:solidFill>
              </a:rPr>
              <a:t>Open Source  |  1800+ Plugins  |  Pipeline as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What we will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4864" cy="11430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33A2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is Jenkins?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Core concepts &amp; 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41448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41448"/>
            <a:ext cx="54864" cy="114300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532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59ED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End-to-end flow diagram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39896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39896"/>
            <a:ext cx="54864" cy="114300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383133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292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306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Webhooks, branches &amp; 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38344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038344"/>
            <a:ext cx="54864" cy="114300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512978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1585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1297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Maven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6052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Compile, test &amp; package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143000"/>
            <a:ext cx="54864" cy="114300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5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9BCD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7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SonarQube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7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Static analysis &amp; quality 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441448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2441448"/>
            <a:ext cx="54864" cy="114300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2532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1E2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7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7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Build &amp; push container images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739896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3739896"/>
            <a:ext cx="54864" cy="1143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5" y="383133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26CE5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7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Kubernetes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7" y="4306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Rolling updates to cluster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038344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5038344"/>
            <a:ext cx="54864" cy="1143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5" y="512978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51297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Complete Jenkinsfile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7" y="56052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Full pipeline code walkthrough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1143000"/>
            <a:ext cx="54864" cy="114300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0456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200"/>
                </a:solidFill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7928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Benefits &amp; Best Practices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67928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Why this pipeline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Jenkins?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The world's leading open-source CI/CD automation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9144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9144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"Jenkins is the automation butler that never sleeps — it builds, tests and deploys your code on every commit, automatically."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40280"/>
            <a:ext cx="3749039" cy="5486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3A2F"/>
                </a:solidFill>
              </a:rPr>
              <a:t>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Free forever, 1800+ plugins, huge global community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240280"/>
            <a:ext cx="3749039" cy="5486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59ED8"/>
                </a:solidFill>
              </a:rP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Automates build, test and deploy — zero manual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240280"/>
            <a:ext cx="3749039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GitHub, Docker, K8s, Maven, SonarQube and 1800+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49039" cy="5486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200"/>
                </a:solidFill>
              </a:rPr>
              <a:t>Pipeline as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Jenkinsfile lives in Git — versioned and peer-reviewed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749039"/>
            <a:ext cx="3749039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Continuous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Runs on every commit — catches bugs at the earliest 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749039"/>
            <a:ext cx="3749039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Scalable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Master-agent architecture supports thousands of jobs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End-to-end flow — code commit to live production in under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" y="1965960"/>
            <a:ext cx="1664208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" y="2112264"/>
            <a:ext cx="329184" cy="32918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Code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&amp;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5416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5416" y="1965960"/>
            <a:ext cx="1664208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0280" y="2112264"/>
            <a:ext cx="329184" cy="32918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5416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5416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1965960"/>
            <a:ext cx="1664208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23944" y="2112264"/>
            <a:ext cx="329184" cy="329184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23944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1585"/>
                </a:solidFill>
              </a:rPr>
              <a:t>Maven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Build &amp;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Unit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1576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2744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52744" y="1965960"/>
            <a:ext cx="1664208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07607" y="2112264"/>
            <a:ext cx="329184" cy="329184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7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2744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E9BCD"/>
                </a:solidFill>
              </a:rPr>
              <a:t>SonarQube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2744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Quality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6408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36408" y="1965960"/>
            <a:ext cx="1664208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91272" y="2112264"/>
            <a:ext cx="329184" cy="329184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6408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36408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Build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6408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Push Image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8904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0072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20072" y="1965960"/>
            <a:ext cx="1664208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74936" y="2112264"/>
            <a:ext cx="329184" cy="32918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4936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0072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26CE5"/>
                </a:solidFill>
              </a:rPr>
              <a:t>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72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Deploy 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0072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Cluster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Developer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pushes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85416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Webhook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85416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triggers job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Compile &amp;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unit tests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2744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Quality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2744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gate check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6408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Image built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36408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&amp; pushed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20072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Pods rolling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0072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out live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" y="4709160"/>
            <a:ext cx="11585448" cy="5486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80974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Entire pipeline completes in under 10 min  .  Every commit gets identical treatment  .  Zero manual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Source control, webhooks and branching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48640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GitHub Triggers Jenkins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7393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Developer pushes code to a branch on 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04872"/>
            <a:ext cx="329184" cy="32918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41448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 Webhook fires HTTP POST to Jenkins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329184" cy="32918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08960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 receives payload with branch and commit SHA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39896"/>
            <a:ext cx="329184" cy="32918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581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76472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Multibranch Pipeline job is triggered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07408"/>
            <a:ext cx="329184" cy="32918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2569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43984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 checks out the exact commit from GitHub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93207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1149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Jenkinsfile is read from repo root — pipeline starts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115568"/>
            <a:ext cx="5806440" cy="239572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1115568"/>
            <a:ext cx="5806440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 Pipeline Config — 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6276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18653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103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triggers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340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    githubPush()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5786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8163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0540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9ED8"/>
                </a:solidFill>
              </a:rPr>
              <a:t>    stage('Checkout')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2918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      steps { checkout scm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5295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7673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005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657600"/>
            <a:ext cx="5806440" cy="262432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3657600"/>
            <a:ext cx="5806440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 Branching 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224528"/>
            <a:ext cx="141732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26110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427939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Production-ready, protected branch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709160"/>
            <a:ext cx="1417320" cy="347472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474573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47640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Integration and testing branch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193792"/>
            <a:ext cx="1417320" cy="34747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52303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feature/*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5248655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New features — PR back to develop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5678424"/>
            <a:ext cx="1417320" cy="347472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71500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hotfix/*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7332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Emergency fixes merged direct to 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Maven Build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Compile  &gt;  Test  &gt;  Package  &gt;  Archive the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1585"/>
                </a:solidFill>
              </a:rPr>
              <a:t>mvn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Validates project structure is correct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59ED8"/>
                </a:solidFill>
              </a:rPr>
              <a:t>mvn 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Compiles all Java source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mvn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Runs JUnit and Mockito unit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9191"/>
            <a:ext cx="3749039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200"/>
                </a:solidFill>
              </a:rPr>
              <a:t>mvn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Creates deployable JAR or WAR artifact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2679191"/>
            <a:ext cx="3749039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mvn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Runs integration tests and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2679191"/>
            <a:ext cx="3749039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mvn install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Saves artifact to local Maven repository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89120"/>
            <a:ext cx="11521440" cy="129844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389120"/>
            <a:ext cx="115214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80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Maven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3776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stage('Maven Build') {  steps { sh 'mvn clean package -DskipTests=false' }  post { always { junit 'target/surefire-reports/*.xml' } }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SonarQube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Automated static analysis — catch bugs before they reach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34924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SonarQube Analyses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1389888" cy="36576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73936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Real errors that will cause application failures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32304"/>
            <a:ext cx="1389888" cy="36576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8716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Security holes like SQL injection and XSS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45536"/>
            <a:ext cx="1389888" cy="36576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 Smells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00400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Maintainability issues and dead code blocks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58768"/>
            <a:ext cx="138988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9534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13631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Percentage of code covered by unit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389888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0857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6268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Copy-paste code that needs refactoring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85232"/>
            <a:ext cx="1389888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2180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40096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Cyclomatic complexity score per method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115568"/>
            <a:ext cx="5943600" cy="23042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1115568"/>
            <a:ext cx="5943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 Gate — Pass to Proceed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6916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 Bugs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691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0939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Coverage &gt; 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093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4963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Security Rating =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496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8986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Duplications &lt; 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898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9200"/>
                </a:solidFill>
              </a:rPr>
              <a:t>WARN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3566160"/>
            <a:ext cx="5943600" cy="271576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7880" y="3566160"/>
            <a:ext cx="5943600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6576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SonarQube Stage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11480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stage('SonarQube Analysis')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4306824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environment {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4498848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scannerHome = tool 'SonarScanner'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69087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882896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507492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withSonarQubeEnv('SonarQube')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5266944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sh '$scannerHome/bin/sonar-scanner'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5458968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565099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200"/>
                </a:solidFill>
              </a:rPr>
              <a:t>    waitForQualityGate abortPipeline: true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843016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603504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Containerisation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Build once, run anywhere — package your app as a container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Defines the image — base OS, copy JAR, set entry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Jenkins builds the image using the Dockerfile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Tag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Tagged with BUILD_NUMBER and branch for full traceability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Image pushed to Docker Registry — ECR or DockerHub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0360"/>
            <a:ext cx="5486400" cy="33375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880360"/>
            <a:ext cx="64008" cy="333756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71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Sample Dockerfile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FROM openjdk:17-jdk-slim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WORKDIR /app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COPY target/app.jar app.jar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EXPOSE 8080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ENV JAVA_OPTS=""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ENTRYPOINT ["java", "-jar", "app.jar"]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880360"/>
            <a:ext cx="5852160" cy="33375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880360"/>
            <a:ext cx="585216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971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Docker 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42900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1E2"/>
                </a:solidFill>
              </a:rPr>
              <a:t>stage('Docker Build &amp; Push')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3016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3133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script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03250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def img = docker.build('myapp:${BUILD_NUMBER}')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23367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docker.withRegistry(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43484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'https://registry.io',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63600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'docker-credentials')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83717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  img.push()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3834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  img.push('latest')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2395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44068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64184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84301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Kubernetes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Automated rolling updates, health checks and instant rollback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34924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Kubernetes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572768" cy="3657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9222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Manages rolling updates and replica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1572768" cy="36576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41401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Stable DNS entry and load balancing for pods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80944"/>
            <a:ext cx="1572768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35808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Routes external HTTP/S traffic into the cluster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157276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3931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ConfigMap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5760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Injects non-sensitive configuration into pods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1572768" cy="36576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611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279392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Stores passwords, tokens and TLS certificates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572768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8289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Namespace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90118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Logical isolation — dev, staging,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68112"/>
            <a:ext cx="157276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0468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Rolling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52297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Zero-downtime deployments — pods replaced gradually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115568"/>
            <a:ext cx="5943600" cy="235915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1115568"/>
            <a:ext cx="5943600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Deploy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166420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6CE5"/>
                </a:solidFill>
              </a:rPr>
              <a:t>stage('Deploy to Kubernetes')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188366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21031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kubernetesDeploy(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232257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  kubeconfigId: 'k8s-config',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254203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  configs: 'k8s/deployment.yaml'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276148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298094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320040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3630168"/>
            <a:ext cx="5943600" cy="26517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3630168"/>
            <a:ext cx="5943600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7216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deployment.yaml — Rolling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169663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spec: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34340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replicas: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45171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strategy: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46908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type: RollingUpdate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864607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rollingUpdate: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5038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  maxUnavailable: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212079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  maxSurge: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538581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template: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3328" y="555955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spec: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53328" y="57332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containers: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5907023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- image: myapp:${BUILD_NUMBER}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6080759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    ports: [{containerPort: 8080}]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Jenkinsfile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One file in your Git repo — the entire pipeline defined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5193792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93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34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173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002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environment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830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DOCKER_IMAGE = "myapp:${BUILD_NUMBER}"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965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SONAR_TOKEN = credentials('sonar-token')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488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317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5146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stage('Checkout')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steps { checkout scm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8803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0632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71585"/>
                </a:solidFill>
              </a:rPr>
              <a:t>    stage('Maven Build')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2461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4290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sh 'mvn clean package'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118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junit 'target/surefire-reports/*.xml'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7947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977639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1605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9BCD"/>
                </a:solidFill>
              </a:rPr>
              <a:t>    stage('SonarQube')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3434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262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withSonarQubeEnv('SonarServer')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7091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sh 'mvn sonar:sonar'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8920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0749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      waitForQualityGate abortPipeline: 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2578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4406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234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91E2"/>
                </a:solidFill>
              </a:rPr>
              <a:t>    stage('Docker Build &amp; Push')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4173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6002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script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7830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def img = docker.build(DOCKER_IMAGE)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965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docker.withRegistry(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148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'https://registry.io',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3317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'docker-creds')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514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img.push()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6974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img.push('latest')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8803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 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0632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2461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611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6CE5"/>
                </a:solidFill>
              </a:rPr>
              <a:t>    stage('Deploy to K8s')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94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kubernetesDeploy(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1605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  kubeconfigId: 'k8s-config',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343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  configs: 'k8s/deployment.yaml'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5262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  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709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8920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074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2578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post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4406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  always { cleanWs()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6235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06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640080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39200"/>
                </a:solidFill>
              </a:rPr>
              <a:t>► For the actual snapchat_server pipeline Jenkinsfile — see the next slides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Why this pipeline pays for itself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Faster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Deployments go from days to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33A2F"/>
                </a:solidFill>
              </a:rPr>
              <a:t>Fewer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Catch issues at commit time, not in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200"/>
                </a:solidFill>
              </a:rPr>
              <a:t>Security Built-in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SonarQube flags vulnerabilities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3749039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59ED8"/>
                </a:solidFill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Identical build process on every single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3017520"/>
            <a:ext cx="3749039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Auto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Kubernetes reverts if health checks 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017520"/>
            <a:ext cx="3749039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Full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Every step logged, traceable and auditable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010912"/>
            <a:ext cx="11521440" cy="65836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010912"/>
            <a:ext cx="115214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Best Practices:  Store Jenkinsfile in Git  .  Use credentials() — never hardcode secrets  .  Pin image tags  .  Enable branch protection  .  Set quality gate thresholds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87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33A2F"/>
                </a:solidFill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01568"/>
            <a:ext cx="9418320" cy="45720"/>
          </a:xfrm>
          <a:prstGeom prst="rect">
            <a:avLst/>
          </a:prstGeom>
          <a:solidFill>
            <a:srgbClr val="3A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657600"/>
            <a:ext cx="1706880" cy="47548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Source &amp; 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4120" y="3657600"/>
            <a:ext cx="1706880" cy="4754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412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412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2440" y="3657600"/>
            <a:ext cx="1706880" cy="47548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244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44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Build &amp;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657600"/>
            <a:ext cx="1706880" cy="47548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Code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9080" y="3657600"/>
            <a:ext cx="1706880" cy="47548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908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908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Containerise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77400" y="3657600"/>
            <a:ext cx="1706880" cy="4754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740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740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Deploy &amp;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AB0"/>
                </a:solidFill>
              </a:rPr>
              <a:t>Code Commit  -&gt;  Build  -&gt;  Test  -&gt;  Quality Check  -&gt;  Docker Image  -&gt;  Kubernetes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End-to-End Automation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 Pipeline in Action — snapchat_server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Actual Jenkins Stage View with live build timings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snapchat_server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Declarative: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Checkout SCM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Declarative: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Tool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the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to DockerHub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the 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the Image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1115568"/>
            <a:ext cx="859536" cy="760780"/>
          </a:xfrm>
          <a:prstGeom prst="rect">
            <a:avLst/>
          </a:prstGeom>
          <a:solidFill>
            <a:srgbClr val="F5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Cleanup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Images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1115568"/>
            <a:ext cx="859536" cy="7607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78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222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Logout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from DockerHub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36608" y="1115568"/>
            <a:ext cx="859536" cy="7607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366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container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510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510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Declarative: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510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 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1949500"/>
            <a:ext cx="11430000" cy="438912"/>
          </a:xfrm>
          <a:prstGeom prst="rect">
            <a:avLst/>
          </a:prstGeom>
          <a:solidFill>
            <a:srgbClr val="23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885ms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435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109ms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579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214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723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358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867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011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646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284ms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155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790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99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934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283ms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44383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78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130ms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587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272ms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731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366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875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510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111ms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" y="2424988"/>
            <a:ext cx="11430000" cy="438912"/>
          </a:xfrm>
          <a:prstGeom prst="rect">
            <a:avLst/>
          </a:prstGeom>
          <a:solidFill>
            <a:srgbClr val="1A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91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26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674ms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435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070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110ms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579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214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723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358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867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502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011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646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494ms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155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790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299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934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494ms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44383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078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184ms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587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222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465ms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731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366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875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510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146ms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608" y="2900476"/>
            <a:ext cx="11430000" cy="438912"/>
          </a:xfrm>
          <a:prstGeom prst="rect">
            <a:avLst/>
          </a:prstGeom>
          <a:solidFill>
            <a:srgbClr val="23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91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26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939ms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2435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070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105ms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579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214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723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358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867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502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011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646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496ms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155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790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7299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934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499ms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44383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6078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196ms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87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222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468ms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4731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4366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3875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3510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120ms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0" y="20683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D0DA"/>
                </a:solidFill>
              </a:rPr>
              <a:t>Build #1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0" y="25438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D0DA"/>
                </a:solidFill>
              </a:rPr>
              <a:t>Build #2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0" y="30193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D0DA"/>
                </a:solidFill>
              </a:rPr>
              <a:t>Build #3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418320" y="777240"/>
            <a:ext cx="2560320" cy="38404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418320" y="795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snapchat_server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418320" y="1261872"/>
            <a:ext cx="25603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41832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SUCCESS  All builds passing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2608" y="5138928"/>
            <a:ext cx="320040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2608" y="5138928"/>
            <a:ext cx="3200400" cy="45720"/>
          </a:xfrm>
          <a:prstGeom prst="rect">
            <a:avLst/>
          </a:prstGeom>
          <a:solidFill>
            <a:srgbClr val="CC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02336" y="52486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0DA"/>
                </a:solidFill>
              </a:rPr>
              <a:t>Checkout + Tool Install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2336" y="5669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Auto-triggered by GitHub webhook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84448" y="5138928"/>
            <a:ext cx="320040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584448" y="5138928"/>
            <a:ext cx="3200400" cy="4572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94176" y="52486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E2"/>
                </a:solidFill>
              </a:rPr>
              <a:t>Build + Docker Stages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94176" y="5669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Compile -&gt; Image -&gt; Push in &lt; 15s total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876288" y="5138928"/>
            <a:ext cx="228600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876288" y="5138928"/>
            <a:ext cx="2286000" cy="4572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86016" y="52486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200"/>
                </a:solidFill>
              </a:rPr>
              <a:t>Cleanup + Logout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86016" y="5669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Keeps agent disk space clean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253728" y="5138928"/>
            <a:ext cx="265176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253728" y="5138928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363455" y="524865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Post Actions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363455" y="566928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Workspace cleaned, results archived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Jenkinsfile — snapchat_server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The actual pipeline code matching your real Jenkins stage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snapchat_server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5193792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93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34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173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002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tools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830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maven 'Maven-3.9'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965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jdk   'JDK-17'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488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317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environment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5146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IMAGE_NAME = 'snapchat_server'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DOCKERHUB_USER = 'your-dockerhub-id'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8803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DOCKERHUB_CRED = credentials('dockerhub-cred')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0632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2461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4290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9AB0"/>
                </a:solidFill>
              </a:rPr>
              <a:t>    // Stage 1 — auto: Checkout SCM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118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9AB0"/>
                </a:solidFill>
              </a:rPr>
              <a:t>    // Stage 2 — auto: Tool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7947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977639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7D32"/>
                </a:solidFill>
              </a:rPr>
              <a:t>    stage('Build')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1605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3434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'mvn clean package -DskipTests=false'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262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7091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8920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0749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Build the Image')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2578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4406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'docker build -t $IMAGE_NAME:$BUILD_NUMBER .'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56235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5806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12344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Login to DockerHub')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14173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16002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'echo $DOCKERHUB_CRED_PSW | docker login -u $DOCKERHUB_CRED_USR --password-stdin'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17830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19659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1488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Tag the Image')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3317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25146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'docker tag $IMAGE_NAME:$BUILD_NUMBER $DOCKERHUB_USER/$IMAGE_NAME:latest'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6974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8803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30632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Push the Image') {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461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steps { sh 'docker push $DOCKERHUB_USER/$IMAGE_NAME:latest'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4290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6118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stage('Cleanup Local Docker Images')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7947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  steps { sh 'docker rmi $IMAGE_NAME:$BUILD_NUMBER'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977639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41605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stage('Done') {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3434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steps { echo 'Pipeline completed successfully!'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45262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7091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Logout from DockerHub') {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48920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steps { sh 'docker logout' 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36208" y="50749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52578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B59B6"/>
                </a:solidFill>
              </a:rPr>
              <a:t>    stage('Docker container run') {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208" y="54406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B59B6"/>
                </a:solidFill>
              </a:rPr>
              <a:t>      steps { sh 'docker run -d -p 8080:8080 $DOCKERHUB_USER/$IMAGE_NAME:latest' 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56235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58064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6208" y="59893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post { always { cleanWs() } 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208" y="61722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 DEVOPS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From GitHub  &gt;&gt;&gt;  Jenkins  &gt;&gt;&gt;  Docker  &gt;&gt;&gt; 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BC9C"/>
                </a:solidFill>
              </a:rPr>
              <a:t>Complete CI/CD Pipeline with Security, Automation &amp;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329184"/>
          </a:xfrm>
          <a:prstGeom prst="rect">
            <a:avLst/>
          </a:prstGeom>
          <a:solidFill>
            <a:srgbClr val="007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35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CI PIPELINE — BUILD &amp; SCAN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749808" cy="5486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38528"/>
            <a:ext cx="292608" cy="2926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4292F"/>
                </a:solidFill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4292F"/>
                </a:solidFill>
              </a:rPr>
              <a:t>Pushes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276148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4292F"/>
                </a:solidFill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Code pushed to GitHub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23774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4" y="1828800"/>
            <a:ext cx="749808" cy="5486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9304" y="1938528"/>
            <a:ext cx="292608" cy="2926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9304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33A2F"/>
                </a:solidFill>
              </a:rPr>
              <a:t>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76148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33A2F"/>
                </a:solidFill>
              </a:rPr>
              <a:t>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Pulls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017520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starts the CI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23774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47088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47088" y="1828800"/>
            <a:ext cx="749808" cy="54864"/>
          </a:xfrm>
          <a:prstGeom prst="rect">
            <a:avLst/>
          </a:prstGeom>
          <a:solidFill>
            <a:srgbClr val="007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75688" y="1938528"/>
            <a:ext cx="292608" cy="292608"/>
          </a:xfrm>
          <a:prstGeom prst="rect">
            <a:avLst/>
          </a:prstGeom>
          <a:solidFill>
            <a:srgbClr val="007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8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4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59E"/>
                </a:solidFill>
              </a:rPr>
              <a:t>OWASP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3664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59E"/>
                </a:solidFill>
              </a:rPr>
              <a:t>Dependency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3664" y="276148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59E"/>
                </a:solidFill>
              </a:rPr>
              <a:t>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83664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Scans libraries for vulnerabilities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6896" y="23774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33472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1828800"/>
            <a:ext cx="749808" cy="54864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62072" y="1938528"/>
            <a:ext cx="292608" cy="2926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62072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0048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E9BCD"/>
                </a:solidFill>
              </a:rPr>
              <a:t>SonarQube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E9BCD"/>
                </a:solidFill>
              </a:rPr>
              <a:t>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0048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Code quality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0048" y="3017520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security static scan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79" y="23774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19856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19856" y="1828800"/>
            <a:ext cx="749808" cy="54864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48456" y="1938528"/>
            <a:ext cx="292608" cy="2926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48456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6432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1E2"/>
                </a:solidFill>
              </a:rPr>
              <a:t>Docker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6432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1E2"/>
                </a:solidFill>
              </a:rPr>
              <a:t>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6432" y="276148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1E2"/>
                </a:solidFill>
              </a:rPr>
              <a:t>Image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432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Builds container image from source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9663" y="23774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1828800"/>
            <a:ext cx="749808" cy="54864"/>
          </a:xfrm>
          <a:prstGeom prst="rect">
            <a:avLst/>
          </a:prstGeom>
          <a:solidFill>
            <a:srgbClr val="1B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34840" y="1938528"/>
            <a:ext cx="292608" cy="292608"/>
          </a:xfrm>
          <a:prstGeom prst="rect">
            <a:avLst/>
          </a:prstGeom>
          <a:solidFill>
            <a:srgbClr val="1B7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2816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73C8"/>
                </a:solidFill>
              </a:rPr>
              <a:t>Trivy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42816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73C8"/>
                </a:solidFill>
              </a:rPr>
              <a:t>Image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42816" y="276148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73C8"/>
                </a:solidFill>
              </a:rPr>
              <a:t>Scan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2816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Scans Docker image for CVEs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56048" y="23774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92624" y="1828800"/>
            <a:ext cx="749808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92624" y="1828800"/>
            <a:ext cx="749808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21224" y="1938528"/>
            <a:ext cx="292608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21224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2286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Push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0" y="25237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Image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276148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to Registry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0" y="2816352"/>
            <a:ext cx="676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On success — image pushed to registry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1417320"/>
            <a:ext cx="5806440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0" y="14356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22C"/>
                </a:solidFill>
              </a:rPr>
              <a:t>  CD PIPELINE — DEPLOY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828800"/>
            <a:ext cx="1325880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08192" y="1828800"/>
            <a:ext cx="1325880" cy="5486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20256" y="1938528"/>
            <a:ext cx="292608" cy="2926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20256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63055" y="2286000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3055" y="2487168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33A2F"/>
                </a:solidFill>
              </a:rPr>
              <a:t>CD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63055" y="2688336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33A2F"/>
                </a:solidFill>
              </a:rPr>
              <a:t>Updates Image Version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63055" y="2852928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Updates image tag in Helm/YAML manifest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34071" y="237744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43800" y="1828800"/>
            <a:ext cx="1325880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1828800"/>
            <a:ext cx="1325880" cy="5486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55864" y="1938528"/>
            <a:ext cx="292608" cy="2926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55864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98664" y="2286000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4292F"/>
                </a:solidFill>
              </a:rPr>
              <a:t>Push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98664" y="2487168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4292F"/>
                </a:solidFill>
              </a:rPr>
              <a:t>Changes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98664" y="2688336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4292F"/>
                </a:solidFill>
              </a:rPr>
              <a:t>Back to GitHub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98664" y="2852928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Updated manifest committed to Git repo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69680" y="237744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79408" y="1828800"/>
            <a:ext cx="1325880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979408" y="1828800"/>
            <a:ext cx="1325880" cy="54864"/>
          </a:xfrm>
          <a:prstGeom prst="rect">
            <a:avLst/>
          </a:prstGeom>
          <a:solidFill>
            <a:srgbClr val="F05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491472" y="1938528"/>
            <a:ext cx="292608" cy="292608"/>
          </a:xfrm>
          <a:prstGeom prst="rect">
            <a:avLst/>
          </a:prstGeom>
          <a:solidFill>
            <a:srgbClr val="F05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491472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34272" y="2286000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5F08"/>
                </a:solidFill>
              </a:rPr>
              <a:t>ArgoCD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4272" y="2487168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5F08"/>
                </a:solidFill>
              </a:rPr>
              <a:t>Pulls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4272" y="2688336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5F08"/>
                </a:solidFill>
              </a:rPr>
              <a:t>Latest Changes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4272" y="2852928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GitOps — ArgoCD detects Git changes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05288" y="2377440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</a:rPr>
              <a:t>→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415015" y="1828800"/>
            <a:ext cx="1325880" cy="14173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415015" y="1828800"/>
            <a:ext cx="1325880" cy="5486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927080" y="1938528"/>
            <a:ext cx="292608" cy="2926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27080" y="19202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69880" y="2286000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6CE5"/>
                </a:solidFill>
              </a:rPr>
              <a:t>Deploy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9880" y="2487168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6CE5"/>
                </a:solidFill>
              </a:rPr>
              <a:t>to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469880" y="2688336"/>
            <a:ext cx="12161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26CE5"/>
                </a:solidFill>
              </a:rPr>
              <a:t>Kubernetes Cluster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69880" y="2852928"/>
            <a:ext cx="1216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0DA"/>
                </a:solidFill>
              </a:rPr>
              <a:t>ArgoCD syncs desired state to cluster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08192" y="3383280"/>
            <a:ext cx="5760720" cy="841248"/>
          </a:xfrm>
          <a:prstGeom prst="rect">
            <a:avLst/>
          </a:prstGeom>
          <a:solidFill>
            <a:srgbClr val="0D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08192" y="3383280"/>
            <a:ext cx="5760720" cy="4572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72200" y="34472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26CE5"/>
                </a:solidFill>
              </a:rPr>
              <a:t>KUBERNETES CLUSTER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63640" y="3611880"/>
            <a:ext cx="1280160" cy="41148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63640" y="365760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59ED8"/>
                </a:solidFill>
              </a:rPr>
              <a:t>Service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818120" y="3611880"/>
            <a:ext cx="1280160" cy="41148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818120" y="365760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</a:rPr>
              <a:t>Pods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372600" y="3611880"/>
            <a:ext cx="1280160" cy="41148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72600" y="365760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26CE5"/>
                </a:solidFill>
              </a:rPr>
              <a:t>Deployment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35240" y="3675887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B0"/>
                </a:solidFill>
              </a:rPr>
              <a:t>- - →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235440" y="3675887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B0"/>
                </a:solidFill>
              </a:rPr>
              <a:t>- - →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4343400"/>
            <a:ext cx="11612880" cy="31089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7472" y="43708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MONITORING &amp; ALERTS — PRODUCTION VISIBILITY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4709160"/>
            <a:ext cx="2743200" cy="9601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74320" y="4709160"/>
            <a:ext cx="2743200" cy="54864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1479" y="48371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22C"/>
                </a:solidFill>
              </a:rPr>
              <a:t>Prometheus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1479" y="52212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Collects metrics from K8s components &amp; app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017520" y="502920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B59B6"/>
                </a:solidFill>
              </a:rPr>
              <a:t>→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127248" y="4709160"/>
            <a:ext cx="2743200" cy="9601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127248" y="4709160"/>
            <a:ext cx="2743200" cy="54864"/>
          </a:xfrm>
          <a:prstGeom prst="rect">
            <a:avLst/>
          </a:prstGeom>
          <a:solidFill>
            <a:srgbClr val="F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64408" y="48371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6B00"/>
                </a:solidFill>
              </a:rPr>
              <a:t>Grafana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64408" y="52212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Visualises metrics in beautiful dashboards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70448" y="502920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B59B6"/>
                </a:solidFill>
              </a:rPr>
              <a:t>→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980176" y="4709160"/>
            <a:ext cx="2743200" cy="9601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980176" y="4709160"/>
            <a:ext cx="2743200" cy="5486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17336" y="48371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200"/>
                </a:solidFill>
              </a:rPr>
              <a:t>Alerts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17336" y="52212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Sends notifications on failures &amp; downtime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23376" y="502920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B59B6"/>
                </a:solidFill>
              </a:rPr>
              <a:t>→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833104" y="4709160"/>
            <a:ext cx="2743200" cy="96012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833104" y="4709160"/>
            <a:ext cx="2743200" cy="5486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970264" y="48371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59ED8"/>
                </a:solidFill>
              </a:rPr>
              <a:t>Email / Notification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970264" y="52212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DevOps team notified instantly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74320" y="5779008"/>
            <a:ext cx="11612880" cy="6400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1480" y="5833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200"/>
                </a:solidFill>
              </a:rPr>
              <a:t>KEY TAKEAWAYS: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331720" y="583387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</a:rPr>
              <a:t>✓  Automate Everything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63440" y="583387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</a:rPr>
              <a:t>✓  Security from the Start (Shift Left)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59" y="583387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</a:rPr>
              <a:t>✓  Deploy Faster – Rollback Safer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326880" y="5833872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CC71"/>
                </a:solidFill>
              </a:rPr>
              <a:t>✓  Monitor Always, Everywhere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End-to-End DevOps Workflow  |  CI/CD + Security + Monitoring  |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DevOps Infinity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Dev + Ops working as one continuous loop — from idea to production and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End-to-End DevOps Workflow  |  CI/CD + Security + Monitoring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0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486400" cy="64008"/>
          </a:xfrm>
          <a:prstGeom prst="rect">
            <a:avLst/>
          </a:prstGeom>
          <a:solidFill>
            <a:srgbClr val="F5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7522"/>
                </a:solidFill>
              </a:rPr>
              <a:t>DEV  — Build &amp; Deliver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64208"/>
            <a:ext cx="1463040" cy="502920"/>
          </a:xfrm>
          <a:prstGeom prst="rect">
            <a:avLst/>
          </a:prstGeom>
          <a:solidFill>
            <a:srgbClr val="F5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55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Define requirements &amp; design 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Source Code  ·  Version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1463040" cy="502920"/>
          </a:xfrm>
          <a:prstGeom prst="rect">
            <a:avLst/>
          </a:prstGeom>
          <a:solidFill>
            <a:srgbClr val="F5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603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Write source code — versioned in Git/GitHub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163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Git branches  ·  Pull Requests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73552"/>
            <a:ext cx="1463040" cy="50292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649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3649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Compile &amp; package — Maven/Gradle creates JAR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621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Infrastructure as Code  ·  CI 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78224"/>
            <a:ext cx="1463040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16966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16966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Unit tests, integration tests — JUnit/Mockito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425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Quality Control  ·  Coverage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882896"/>
            <a:ext cx="1463040" cy="50292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9743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974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Tag the version &amp; trigger the CD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CI/CD  ·  Continuous Delivery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97280"/>
            <a:ext cx="566928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097280"/>
            <a:ext cx="5669280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OPS  — Deploy &amp; Operate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664208"/>
            <a:ext cx="146304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7556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175564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ArgoCD / kubectl applies to Kubernetes cluster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02996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Provisioning  ·  Config Management  ·  Helm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62656"/>
            <a:ext cx="1463040" cy="50292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0540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OPERATE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054096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Service, Pods, Ingress running in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328416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Virtualisation  ·  Containerisation (Docker)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261104"/>
            <a:ext cx="1463040" cy="50292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35254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22C"/>
                </a:solidFill>
              </a:rPr>
              <a:t>MONITOR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352544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Prometheus collects — Grafana visualises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4626864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AB0"/>
                </a:solidFill>
              </a:rPr>
              <a:t>Visualisations  ·  Logging  ·  Alerting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577840"/>
            <a:ext cx="5349240" cy="56692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6509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0DA"/>
                </a:solidFill>
              </a:rPr>
              <a:t>Tools: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5614416"/>
            <a:ext cx="841248" cy="347472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5632704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11312" y="5614416"/>
            <a:ext cx="841248" cy="347472"/>
          </a:xfrm>
          <a:prstGeom prst="rect">
            <a:avLst/>
          </a:prstGeom>
          <a:solidFill>
            <a:srgbClr val="F05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5632704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ArgoCD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07424" y="5614416"/>
            <a:ext cx="841248" cy="347472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07424" y="5632704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3536" y="5614416"/>
            <a:ext cx="841248" cy="347472"/>
          </a:xfrm>
          <a:prstGeom prst="rect">
            <a:avLst/>
          </a:prstGeom>
          <a:solidFill>
            <a:srgbClr val="F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03536" y="5632704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99648" y="5614416"/>
            <a:ext cx="841248" cy="347472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99648" y="5632704"/>
            <a:ext cx="841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2926080"/>
            <a:ext cx="365760" cy="118872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33872" y="321868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0" y="370332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ABC9C"/>
                </a:solidFill>
              </a:rPr>
              <a:t>Continuous
Feedback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Companies Expect You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Real-world CI/CD knowledge — tools + workflow + security +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End-to-End DevOps Workflow  |  CI/CD + Security + Monitoring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2834640" cy="4434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834640" cy="64008"/>
          </a:xfrm>
          <a:prstGeom prst="rect">
            <a:avLst/>
          </a:prstGeom>
          <a:solidFill>
            <a:srgbClr val="007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07007"/>
            <a:ext cx="347472" cy="347472"/>
          </a:xfrm>
          <a:prstGeom prst="rect">
            <a:avLst/>
          </a:prstGeom>
          <a:solidFill>
            <a:srgbClr val="007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225295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59E"/>
                </a:solidFill>
              </a:rPr>
              <a:t>CI — Build +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556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Developer pushes code to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585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Jenkins pulls &amp; triggers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7614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OWASP scans 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264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SonarQube checks code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7673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Docker builds the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2702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Trivy scans image for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7731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Image pushed to registry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1097280"/>
            <a:ext cx="2834640" cy="4434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18688" y="1097280"/>
            <a:ext cx="28346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0128" y="1207007"/>
            <a:ext cx="347472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1188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1225295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CD — Deploy + Automate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17556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Jenkins CD updates image 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2585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Manifest pushed back to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7614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ArgoCD detects Git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264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ArgoCD syncs to Kubernetes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7673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Rolling update applied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2702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Zero downtime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7731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Auto rollback on failure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1097280"/>
            <a:ext cx="2834640" cy="4434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1097280"/>
            <a:ext cx="2834640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1207007"/>
            <a:ext cx="347472" cy="347472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1188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1225295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3A2F"/>
                </a:solidFill>
              </a:rPr>
              <a:t>Security — Shift Left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17556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OWASP: scan deps before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22585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SonarQube: code analysis early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27614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Trivy: image scan before push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264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Secrets via credentials()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37673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Branch protection on GitHub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42702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Quality gate blocks bad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7731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Security built into every step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07424" y="1097280"/>
            <a:ext cx="2834640" cy="4434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1097280"/>
            <a:ext cx="2834640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98864" y="1207007"/>
            <a:ext cx="347472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1188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56064" y="1225295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</a:rPr>
              <a:t>Monitoring — Production Visibility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6" y="17556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Prometheus scrapes K8s metrics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72016" y="22585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Grafana dashboards &amp; insights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6" y="27614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Alerts on failures &amp; downtime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2016" y="326440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Email/Slack notifications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6" y="37673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Track build success rates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6" y="42702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Detect performance regressions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2016" y="47731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▸  Log aggregation &amp; audit trail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650992"/>
            <a:ext cx="11612880" cy="6858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742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200"/>
                </a:solidFill>
              </a:rPr>
              <a:t>Full Tool Chain: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48840" y="5687568"/>
            <a:ext cx="1143000" cy="56692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48840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8840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(Code)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92424" y="5687568"/>
            <a:ext cx="1143000" cy="56692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92424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92424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(CI)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5424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36008" y="5687568"/>
            <a:ext cx="1143000" cy="56692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36008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36008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(Build)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79008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9592" y="5687568"/>
            <a:ext cx="1143000" cy="56692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79592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79592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(Images)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22592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23176" y="5687568"/>
            <a:ext cx="1143000" cy="566928"/>
          </a:xfrm>
          <a:prstGeom prst="rect">
            <a:avLst/>
          </a:prstGeom>
          <a:solidFill>
            <a:srgbClr val="F05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23176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ArgoCD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23176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(GitOps)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66176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66760" y="5687568"/>
            <a:ext cx="1143000" cy="56692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66760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(Deploy)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09760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10344" y="5687568"/>
            <a:ext cx="1143000" cy="566928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10344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10344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(Metrics)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53344" y="5833872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9AB0"/>
                </a:solidFill>
              </a:rPr>
              <a:t>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53928" y="5687568"/>
            <a:ext cx="1143000" cy="566928"/>
          </a:xfrm>
          <a:prstGeom prst="rect">
            <a:avLst/>
          </a:prstGeom>
          <a:solidFill>
            <a:srgbClr val="F4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53928" y="57058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53928" y="59618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(Dashboards)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